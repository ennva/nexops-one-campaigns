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802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room: how many of the funds represented here filed a DORA register last March? Who is confident it passes next March's checks? Then the one-liner: we help Luxembourg fund managers and smaller regulated entities file a register that passes CSSF validation, and keep it accurate all year, with software that runs in their own environment.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CSSF-supervised entity must file a DORA register of all its ICT providers every year. The checks are getting stricter: the CSSF itself warned that registers accepted in 2025 may be rejected in 2026, because the same checks now apply to more fields. In one analysis of 947 registers, only 6.5% passed every check, and 86% of errors were simply missing mandatory data. Big entities throw consultants at this. A 15-person ManCo can't.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laptop. Demo Bank, a fictitious entity: import the sample register, show the validation report and coverage, open one control that cannot be assessed because data is missing, attach evidence, approve it as the approver, generate the report. Keep it to 90 seconds. Say: it runs in your own environment and it's open source, so it doesn't become another vendor you have to register and assess. Do not call the export CSSF-ready: it is aligned with the EBA format and the official rules load before the 2027 filing.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SaaS compliance tool becomes one more ICT third party in the very register it helps you build: another contract to assess, another concentration to report. Ours runs inside your perimeter, the core is open source with a documented exit plan, and it ships its own entry for your register. And because I come from finance IT missions and multi-cloud infrastructure, I understand both the register and the cloud architecture behind it, which most compliance-only consultancies don't.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core: the free engine builds trust and adoption. What clients pay for is what the regulator requires: the register export, the maintained rule catalog that updates every year as validation tightens, and multi-entity administration. The channel licence lets a third-party ManCo or a boutique consultancy run all its client entities from one install, which is how we scale beyond one entity at a time. Prices are hypotheses we test in the first conversations.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two numbers on the morning of the pitch; if a design partner agreed to be named, name them. The product is not a mock-up: the open-core engine and the commercial edition both run today. Be precise on one point if asked: the register export follows the EBA xBRL-CSV structure; the official taxonomy and validation rules are loaded before the 2027 filing.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March's filing is our launch window: five months from today is exactly one sales cycle. After that, the same buyer asks the next question: how concentrated are we on one cloud provider, and what would it really cost to leave? That's NEXOPS ONE, our cloud economics and sovereignty platform, which already connects read-only to Azure and AWS. Same buyer, second product.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looking for three Luxembourg fund managers to file with us in March, and for introductions to ALFI and LPEA compliance officers. Fit 4 Start funds the work that turns the product into the filing tool: the official EBA rules, legal review, a Luxembourg-hosted option for clients without an IT team, and a compliance partner on the team. Close by offering the free Register Health Check to anyone in the room.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01441"/>
            <a:ext cx="10566400" cy="40437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01441"/>
            <a:ext cx="10566400" cy="40437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65A"/>
                </a:solidFill>
                <a:latin typeface="IBM Plex Sans" pitchFamily="34" charset="0"/>
                <a:ea typeface="IBM Plex Sans" pitchFamily="34" charset="-122"/>
                <a:cs typeface="IBM Plex Sans" pitchFamily="34" charset="-120"/>
              </a:rPr>
              <a:t>NEXOPS ONE · LUXEMBOURG VENTURE DAYS 2026 · FIT 4 START #18</a:t>
            </a:r>
            <a:endParaRPr lang="en-US" sz="1200" dirty="0"/>
          </a:p>
        </p:txBody>
      </p:sp>
      <p:sp>
        <p:nvSpPr>
          <p:cNvPr id="3" name="Text 1"/>
          <p:cNvSpPr>
            <a:spLocks noGrp="1"/>
          </p:cNvSpPr>
          <p:nvPr>
            <p:ph type="title"/>
          </p:nvPr>
        </p:nvSpPr>
        <p:spPr>
          <a:xfrm>
            <a:off x="812800" y="2245453"/>
            <a:ext cx="10883392" cy="1518841"/>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6F4EE"/>
                </a:solidFill>
                <a:latin typeface="Source Serif 4" pitchFamily="18" charset="0"/>
                <a:ea typeface="Source Serif 4" pitchFamily="18" charset="-122"/>
                <a:cs typeface="Source Serif 4" pitchFamily="18" charset="-120"/>
              </a:rPr>
              <a:t>The DORA register that passes.</a:t>
            </a:r>
            <a:endParaRPr lang="en-US" sz="5600" dirty="0"/>
          </a:p>
          <a:p>
            <a:pPr marL="0" indent="0" algn="l">
              <a:lnSpc>
                <a:spcPts val="5880"/>
              </a:lnSpc>
              <a:buNone/>
            </a:pPr>
            <a:r>
              <a:rPr lang="en-US" sz="5600" b="1" i="0" dirty="0">
                <a:solidFill>
                  <a:srgbClr val="F6F4EE"/>
                </a:solidFill>
                <a:latin typeface="Source Serif 4" pitchFamily="18" charset="0"/>
                <a:ea typeface="Source Serif 4" pitchFamily="18" charset="-122"/>
                <a:cs typeface="Source Serif 4" pitchFamily="18" charset="-120"/>
              </a:rPr>
              <a:t>Every year.</a:t>
            </a:r>
            <a:endParaRPr lang="en-US" sz="5600" dirty="0"/>
          </a:p>
        </p:txBody>
      </p:sp>
      <p:sp>
        <p:nvSpPr>
          <p:cNvPr id="4" name="Text 2"/>
          <p:cNvSpPr/>
          <p:nvPr/>
        </p:nvSpPr>
        <p:spPr>
          <a:xfrm>
            <a:off x="812800" y="4043693"/>
            <a:ext cx="863346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FDB"/>
                </a:solidFill>
                <a:latin typeface="IBM Plex Sans" pitchFamily="34" charset="0"/>
                <a:ea typeface="IBM Plex Sans" pitchFamily="34" charset="-122"/>
                <a:cs typeface="IBM Plex Sans" pitchFamily="34" charset="-120"/>
              </a:rPr>
              <a:t>For Luxembourg fund managers and smaller regulated entities: software that runs in your own environment, so the compliance tool isn't another third-party risk.</a:t>
            </a:r>
            <a:endParaRPr lang="en-US" sz="16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FDB"/>
                </a:solidFill>
                <a:latin typeface="IBM Plex Sans" pitchFamily="34" charset="0"/>
                <a:ea typeface="IBM Plex Sans" pitchFamily="34" charset="-122"/>
                <a:cs typeface="IBM Plex Sans" pitchFamily="34" charset="-120"/>
              </a:rPr>
              <a:t>Nephthali DJABON TCHOUNDA · </a:t>
            </a:r>
            <a:r>
              <a:rPr lang="en-US" sz="1200" dirty="0" err="1">
                <a:solidFill>
                  <a:srgbClr val="C9CFDB"/>
                </a:solidFill>
                <a:latin typeface="IBM Plex Sans" pitchFamily="34" charset="0"/>
                <a:ea typeface="IBM Plex Sans" pitchFamily="34" charset="-122"/>
                <a:cs typeface="IBM Plex Sans" pitchFamily="34" charset="-120"/>
              </a:rPr>
              <a:t>services@securaops.site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81A"/>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a:spLocks noGrp="1"/>
          </p:cNvSpPr>
          <p:nvPr>
            <p:ph type="title"/>
          </p:nvPr>
        </p:nvSpPr>
        <p:spPr>
          <a:xfrm>
            <a:off x="812800" y="1229320"/>
            <a:ext cx="10883392"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A register the CSSF accepted in 2025 can be rejected in 2026</a:t>
            </a:r>
            <a:endParaRPr lang="en-US" sz="3200" dirty="0"/>
          </a:p>
        </p:txBody>
      </p:sp>
      <p:sp>
        <p:nvSpPr>
          <p:cNvPr id="4" name="Shape 2"/>
          <p:cNvSpPr/>
          <p:nvPr/>
        </p:nvSpPr>
        <p:spPr>
          <a:xfrm>
            <a:off x="815975" y="2370336"/>
            <a:ext cx="3297238" cy="3468489"/>
          </a:xfrm>
          <a:prstGeom prst="roundRect">
            <a:avLst>
              <a:gd name="adj" fmla="val 2985"/>
            </a:avLst>
          </a:prstGeom>
          <a:solidFill>
            <a:srgbClr val="FFFDF8"/>
          </a:solidFill>
          <a:ln w="6350">
            <a:solidFill>
              <a:srgbClr val="E2DED3"/>
            </a:solidFill>
            <a:prstDash val="solid"/>
          </a:ln>
        </p:spPr>
      </p:sp>
      <p:sp>
        <p:nvSpPr>
          <p:cNvPr id="5" name="Text 3"/>
          <p:cNvSpPr/>
          <p:nvPr/>
        </p:nvSpPr>
        <p:spPr>
          <a:xfrm>
            <a:off x="1121833" y="2676195"/>
            <a:ext cx="2766087"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B5481A"/>
                </a:solidFill>
                <a:latin typeface="Source Serif 4" pitchFamily="18" charset="0"/>
                <a:ea typeface="Source Serif 4" pitchFamily="18" charset="-122"/>
                <a:cs typeface="Source Serif 4" pitchFamily="18" charset="-120"/>
              </a:rPr>
              <a:t>40%</a:t>
            </a:r>
            <a:endParaRPr lang="en-US" sz="6000" dirty="0"/>
          </a:p>
        </p:txBody>
      </p:sp>
      <p:sp>
        <p:nvSpPr>
          <p:cNvPr id="6" name="Text 4"/>
          <p:cNvSpPr/>
          <p:nvPr/>
        </p:nvSpPr>
        <p:spPr>
          <a:xfrm>
            <a:off x="1121833" y="3514395"/>
            <a:ext cx="2766087" cy="539750"/>
          </a:xfrm>
          <a:prstGeom prst="rect">
            <a:avLst/>
          </a:prstGeom>
          <a:noFill/>
          <a:ln/>
        </p:spPr>
        <p:txBody>
          <a:bodyPr wrap="square" lIns="0" tIns="0" rIns="0" bIns="0" rtlCol="0" anchor="t">
            <a:normAutofit fontScale="70000" lnSpcReduction="20000"/>
          </a:bodyPr>
          <a:lstStyle/>
          <a:p>
            <a:pPr>
              <a:lnSpc>
                <a:spcPts val="2025"/>
              </a:lnSpc>
            </a:pPr>
            <a:r>
              <a:rPr lang="en-US" dirty="0"/>
              <a:t>of entities required to file a register had done so as of 16 March</a:t>
            </a:r>
            <a:endParaRPr lang="en-US" sz="1500" dirty="0"/>
          </a:p>
        </p:txBody>
      </p:sp>
      <p:sp>
        <p:nvSpPr>
          <p:cNvPr id="7" name="Shape 5"/>
          <p:cNvSpPr/>
          <p:nvPr/>
        </p:nvSpPr>
        <p:spPr>
          <a:xfrm>
            <a:off x="4322763" y="2370336"/>
            <a:ext cx="3297238" cy="3468489"/>
          </a:xfrm>
          <a:prstGeom prst="roundRect">
            <a:avLst>
              <a:gd name="adj" fmla="val 2985"/>
            </a:avLst>
          </a:prstGeom>
          <a:solidFill>
            <a:srgbClr val="FFFDF8"/>
          </a:solidFill>
          <a:ln w="6350">
            <a:solidFill>
              <a:srgbClr val="E2DED3"/>
            </a:solidFill>
            <a:prstDash val="solid"/>
          </a:ln>
        </p:spPr>
      </p:sp>
      <p:sp>
        <p:nvSpPr>
          <p:cNvPr id="8" name="Text 6"/>
          <p:cNvSpPr/>
          <p:nvPr/>
        </p:nvSpPr>
        <p:spPr>
          <a:xfrm>
            <a:off x="4628621" y="2676195"/>
            <a:ext cx="2766087" cy="787400"/>
          </a:xfrm>
          <a:prstGeom prst="rect">
            <a:avLst/>
          </a:prstGeom>
          <a:noFill/>
          <a:ln/>
        </p:spPr>
        <p:txBody>
          <a:bodyPr wrap="square" lIns="0" tIns="0" rIns="0" bIns="0" rtlCol="0" anchor="t">
            <a:normAutofit/>
          </a:bodyPr>
          <a:lstStyle/>
          <a:p>
            <a:pPr>
              <a:lnSpc>
                <a:spcPts val="6000"/>
              </a:lnSpc>
            </a:pPr>
            <a:r>
              <a:rPr lang="fr-LU" sz="6000" b="1" dirty="0">
                <a:solidFill>
                  <a:srgbClr val="B5481A"/>
                </a:solidFill>
                <a:latin typeface="Source Serif 4" pitchFamily="18" charset="0"/>
                <a:ea typeface="Source Serif 4" pitchFamily="18" charset="-122"/>
              </a:rPr>
              <a:t>31.03</a:t>
            </a:r>
            <a:endParaRPr lang="en-US" sz="6000" dirty="0"/>
          </a:p>
        </p:txBody>
      </p:sp>
      <p:sp>
        <p:nvSpPr>
          <p:cNvPr id="9" name="Text 7"/>
          <p:cNvSpPr/>
          <p:nvPr/>
        </p:nvSpPr>
        <p:spPr>
          <a:xfrm>
            <a:off x="4628621" y="3514395"/>
            <a:ext cx="2766087" cy="539750"/>
          </a:xfrm>
          <a:prstGeom prst="rect">
            <a:avLst/>
          </a:prstGeom>
          <a:noFill/>
          <a:ln/>
        </p:spPr>
        <p:txBody>
          <a:bodyPr wrap="square" lIns="0" tIns="0" rIns="0" bIns="0" rtlCol="0" anchor="t">
            <a:normAutofit fontScale="77500" lnSpcReduction="20000"/>
          </a:bodyPr>
          <a:lstStyle/>
          <a:p>
            <a:pPr>
              <a:lnSpc>
                <a:spcPts val="2025"/>
              </a:lnSpc>
            </a:pPr>
            <a:r>
              <a:rPr lang="en-US" dirty="0"/>
              <a:t>filing deadline set by the CSSF in 2026 (</a:t>
            </a:r>
            <a:r>
              <a:rPr lang="en-US" dirty="0" err="1"/>
              <a:t>eDesk</a:t>
            </a:r>
            <a:r>
              <a:rPr lang="en-US" dirty="0"/>
              <a:t> opened 11 February)</a:t>
            </a:r>
            <a:endParaRPr lang="en-US" sz="1500" dirty="0"/>
          </a:p>
        </p:txBody>
      </p:sp>
      <p:sp>
        <p:nvSpPr>
          <p:cNvPr id="10" name="Shape 8"/>
          <p:cNvSpPr/>
          <p:nvPr/>
        </p:nvSpPr>
        <p:spPr>
          <a:xfrm>
            <a:off x="7839075" y="2367161"/>
            <a:ext cx="0" cy="3474839"/>
          </a:xfrm>
          <a:prstGeom prst="line">
            <a:avLst/>
          </a:prstGeom>
          <a:noFill/>
          <a:ln w="25400">
            <a:solidFill>
              <a:srgbClr val="14213D"/>
            </a:solidFill>
            <a:prstDash val="solid"/>
          </a:ln>
        </p:spPr>
      </p:sp>
      <p:sp>
        <p:nvSpPr>
          <p:cNvPr id="11" name="Text 9"/>
          <p:cNvSpPr/>
          <p:nvPr/>
        </p:nvSpPr>
        <p:spPr>
          <a:xfrm>
            <a:off x="8054975" y="2671961"/>
            <a:ext cx="3319304"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Who can't absorb it</a:t>
            </a:r>
            <a:endParaRPr lang="en-US" sz="1800" dirty="0"/>
          </a:p>
        </p:txBody>
      </p:sp>
      <p:sp>
        <p:nvSpPr>
          <p:cNvPr id="12" name="Text 10"/>
          <p:cNvSpPr/>
          <p:nvPr/>
        </p:nvSpPr>
        <p:spPr>
          <a:xfrm>
            <a:off x="8126095" y="3073268"/>
            <a:ext cx="3240564" cy="1406525"/>
          </a:xfrm>
          <a:prstGeom prst="rect">
            <a:avLst/>
          </a:prstGeom>
          <a:noFill/>
          <a:ln/>
        </p:spPr>
        <p:txBody>
          <a:bodyPr wrap="square" lIns="0" tIns="0" rIns="0" bIns="0" rtlCol="0" anchor="t">
            <a:normAutofit/>
          </a:bodyPr>
          <a:lstStyle/>
          <a:p>
            <a:pPr marL="182880" indent="-182880" algn="l">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ManCos and AIFMs of 10–30 people</a:t>
            </a:r>
            <a:endParaRPr lang="en-US" sz="1500" dirty="0"/>
          </a:p>
          <a:p>
            <a:pPr marL="182880" indent="-182880" algn="l">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Smaller PSFs and payment firms</a:t>
            </a:r>
            <a:endParaRPr lang="en-US" sz="1500" dirty="0"/>
          </a:p>
          <a:p>
            <a:pPr marL="182880" indent="-182880" algn="l">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Teams with no dedicated DORA staff, filing every year</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Sources: CSSF, register submission notice, Feb 2026 · EY, analysis of 947 registers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81A"/>
                </a:solidFill>
                <a:latin typeface="IBM Plex Sans" pitchFamily="34" charset="0"/>
                <a:ea typeface="IBM Plex Sans" pitchFamily="34" charset="-122"/>
                <a:cs typeface="IBM Plex Sans" pitchFamily="34" charset="-120"/>
              </a:rPr>
              <a:t>THE PRODUCT</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From last year's spreadsheet to a clean filing</a:t>
            </a:r>
            <a:endParaRPr lang="en-US" sz="3200" dirty="0"/>
          </a:p>
        </p:txBody>
      </p:sp>
      <p:sp>
        <p:nvSpPr>
          <p:cNvPr id="4" name="Shape 2"/>
          <p:cNvSpPr/>
          <p:nvPr/>
        </p:nvSpPr>
        <p:spPr>
          <a:xfrm>
            <a:off x="815975" y="1903016"/>
            <a:ext cx="3041650" cy="3570089"/>
          </a:xfrm>
          <a:prstGeom prst="roundRect">
            <a:avLst>
              <a:gd name="adj" fmla="val 3236"/>
            </a:avLst>
          </a:prstGeom>
          <a:solidFill>
            <a:srgbClr val="FFFDF8"/>
          </a:solidFill>
          <a:ln w="6350">
            <a:solidFill>
              <a:srgbClr val="E2DED3"/>
            </a:solidFill>
            <a:prstDash val="solid"/>
          </a:ln>
        </p:spPr>
      </p:sp>
      <p:sp>
        <p:nvSpPr>
          <p:cNvPr id="5" name="Text 3"/>
          <p:cNvSpPr/>
          <p:nvPr/>
        </p:nvSpPr>
        <p:spPr>
          <a:xfrm>
            <a:off x="1121833" y="2208874"/>
            <a:ext cx="250283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81A"/>
                </a:solidFill>
                <a:latin typeface="IBM Plex Sans" pitchFamily="34" charset="0"/>
                <a:ea typeface="IBM Plex Sans" pitchFamily="34" charset="-122"/>
                <a:cs typeface="IBM Plex Sans" pitchFamily="34" charset="-120"/>
              </a:rPr>
              <a:t>Step 1</a:t>
            </a:r>
            <a:endParaRPr lang="en-US" sz="1200" dirty="0"/>
          </a:p>
        </p:txBody>
      </p:sp>
      <p:sp>
        <p:nvSpPr>
          <p:cNvPr id="6" name="Text 4"/>
          <p:cNvSpPr/>
          <p:nvPr/>
        </p:nvSpPr>
        <p:spPr>
          <a:xfrm>
            <a:off x="1121833" y="2549195"/>
            <a:ext cx="2502831"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Import</a:t>
            </a:r>
            <a:endParaRPr lang="en-US" sz="2200" dirty="0"/>
          </a:p>
        </p:txBody>
      </p:sp>
      <p:sp>
        <p:nvSpPr>
          <p:cNvPr id="7" name="Text 5"/>
          <p:cNvSpPr/>
          <p:nvPr/>
        </p:nvSpPr>
        <p:spPr>
          <a:xfrm>
            <a:off x="1121833" y="3011422"/>
            <a:ext cx="2502831"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Load the register you filed last year, as a spreadsheet. No re-keying.</a:t>
            </a:r>
            <a:endParaRPr lang="en-US" sz="1500" dirty="0"/>
          </a:p>
        </p:txBody>
      </p:sp>
      <p:pic>
        <p:nvPicPr>
          <p:cNvPr id="8" name="Image 0" descr="arrow-right"/>
          <p:cNvPicPr>
            <a:picLocks noChangeAspect="1"/>
          </p:cNvPicPr>
          <p:nvPr/>
        </p:nvPicPr>
        <p:blipFill>
          <a:blip r:embed="rId3"/>
          <a:srcRect/>
          <a:stretch/>
        </p:blipFill>
        <p:spPr>
          <a:xfrm>
            <a:off x="4013200" y="3586428"/>
            <a:ext cx="406400" cy="203200"/>
          </a:xfrm>
          <a:prstGeom prst="rect">
            <a:avLst/>
          </a:prstGeom>
        </p:spPr>
      </p:pic>
      <p:sp>
        <p:nvSpPr>
          <p:cNvPr id="9" name="Shape 6"/>
          <p:cNvSpPr/>
          <p:nvPr/>
        </p:nvSpPr>
        <p:spPr>
          <a:xfrm>
            <a:off x="4575175" y="1903016"/>
            <a:ext cx="3041650" cy="3570089"/>
          </a:xfrm>
          <a:prstGeom prst="roundRect">
            <a:avLst>
              <a:gd name="adj" fmla="val 3236"/>
            </a:avLst>
          </a:prstGeom>
          <a:solidFill>
            <a:srgbClr val="FFFDF8"/>
          </a:solidFill>
          <a:ln w="6350">
            <a:solidFill>
              <a:srgbClr val="E2DED3"/>
            </a:solidFill>
            <a:prstDash val="solid"/>
          </a:ln>
        </p:spPr>
      </p:sp>
      <p:sp>
        <p:nvSpPr>
          <p:cNvPr id="10" name="Text 7"/>
          <p:cNvSpPr/>
          <p:nvPr/>
        </p:nvSpPr>
        <p:spPr>
          <a:xfrm>
            <a:off x="4881033" y="2208874"/>
            <a:ext cx="250283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81A"/>
                </a:solidFill>
                <a:latin typeface="IBM Plex Sans" pitchFamily="34" charset="0"/>
                <a:ea typeface="IBM Plex Sans" pitchFamily="34" charset="-122"/>
                <a:cs typeface="IBM Plex Sans" pitchFamily="34" charset="-120"/>
              </a:rPr>
              <a:t>Step 2</a:t>
            </a:r>
            <a:endParaRPr lang="en-US" sz="1200" dirty="0"/>
          </a:p>
        </p:txBody>
      </p:sp>
      <p:sp>
        <p:nvSpPr>
          <p:cNvPr id="11" name="Text 8"/>
          <p:cNvSpPr/>
          <p:nvPr/>
        </p:nvSpPr>
        <p:spPr>
          <a:xfrm>
            <a:off x="4881033" y="2549195"/>
            <a:ext cx="2502831"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See the gaps</a:t>
            </a:r>
            <a:endParaRPr lang="en-US" sz="2200" dirty="0"/>
          </a:p>
        </p:txBody>
      </p:sp>
      <p:sp>
        <p:nvSpPr>
          <p:cNvPr id="12" name="Text 9"/>
          <p:cNvSpPr/>
          <p:nvPr/>
        </p:nvSpPr>
        <p:spPr>
          <a:xfrm>
            <a:off x="4881033" y="3011422"/>
            <a:ext cx="2502831"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Every requirement shows as met, gap or not assessed. Missing data is never counted as a pass.</a:t>
            </a:r>
            <a:endParaRPr lang="en-US" sz="1500" dirty="0"/>
          </a:p>
        </p:txBody>
      </p:sp>
      <p:pic>
        <p:nvPicPr>
          <p:cNvPr id="13" name="Image 1" descr="arrow-right"/>
          <p:cNvPicPr>
            <a:picLocks noChangeAspect="1"/>
          </p:cNvPicPr>
          <p:nvPr/>
        </p:nvPicPr>
        <p:blipFill>
          <a:blip r:embed="rId3"/>
          <a:srcRect/>
          <a:stretch/>
        </p:blipFill>
        <p:spPr>
          <a:xfrm>
            <a:off x="7772400" y="3586428"/>
            <a:ext cx="406400" cy="203200"/>
          </a:xfrm>
          <a:prstGeom prst="rect">
            <a:avLst/>
          </a:prstGeom>
        </p:spPr>
      </p:pic>
      <p:sp>
        <p:nvSpPr>
          <p:cNvPr id="14" name="Shape 10"/>
          <p:cNvSpPr/>
          <p:nvPr/>
        </p:nvSpPr>
        <p:spPr>
          <a:xfrm>
            <a:off x="8334375" y="1903016"/>
            <a:ext cx="3041650" cy="3570089"/>
          </a:xfrm>
          <a:prstGeom prst="roundRect">
            <a:avLst>
              <a:gd name="adj" fmla="val 3236"/>
            </a:avLst>
          </a:prstGeom>
          <a:solidFill>
            <a:srgbClr val="FFFDF8"/>
          </a:solidFill>
          <a:ln w="6350">
            <a:solidFill>
              <a:srgbClr val="E2DED3"/>
            </a:solidFill>
            <a:prstDash val="solid"/>
          </a:ln>
        </p:spPr>
      </p:sp>
      <p:sp>
        <p:nvSpPr>
          <p:cNvPr id="15" name="Text 11"/>
          <p:cNvSpPr/>
          <p:nvPr/>
        </p:nvSpPr>
        <p:spPr>
          <a:xfrm>
            <a:off x="8640234" y="2208874"/>
            <a:ext cx="250283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81A"/>
                </a:solidFill>
                <a:latin typeface="IBM Plex Sans" pitchFamily="34" charset="0"/>
                <a:ea typeface="IBM Plex Sans" pitchFamily="34" charset="-122"/>
                <a:cs typeface="IBM Plex Sans" pitchFamily="34" charset="-120"/>
              </a:rPr>
              <a:t>Step 3</a:t>
            </a:r>
            <a:endParaRPr lang="en-US" sz="1200" dirty="0"/>
          </a:p>
        </p:txBody>
      </p:sp>
      <p:sp>
        <p:nvSpPr>
          <p:cNvPr id="16" name="Text 12"/>
          <p:cNvSpPr/>
          <p:nvPr/>
        </p:nvSpPr>
        <p:spPr>
          <a:xfrm>
            <a:off x="8640234" y="2549195"/>
            <a:ext cx="2502831"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Prove and export</a:t>
            </a:r>
            <a:endParaRPr lang="en-US" sz="2200" dirty="0"/>
          </a:p>
        </p:txBody>
      </p:sp>
      <p:sp>
        <p:nvSpPr>
          <p:cNvPr id="17" name="Text 13"/>
          <p:cNvSpPr/>
          <p:nvPr/>
        </p:nvSpPr>
        <p:spPr>
          <a:xfrm>
            <a:off x="8640234" y="3011422"/>
            <a:ext cx="2502831"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Attach evidence, review and approve, then export the readiness report and the register package.</a:t>
            </a:r>
            <a:endParaRPr lang="en-US" sz="1500" dirty="0"/>
          </a:p>
        </p:txBody>
      </p:sp>
      <p:sp>
        <p:nvSpPr>
          <p:cNvPr id="18" name="Text 14"/>
          <p:cNvSpPr/>
          <p:nvPr/>
        </p:nvSpPr>
        <p:spPr>
          <a:xfrm>
            <a:off x="812800" y="5679480"/>
            <a:ext cx="3880379" cy="365720"/>
          </a:xfrm>
          <a:prstGeom prst="roundRect">
            <a:avLst>
              <a:gd name="adj" fmla="val 50000"/>
            </a:avLst>
          </a:prstGeom>
          <a:solidFill>
            <a:srgbClr val="F2D9C4"/>
          </a:solidFill>
          <a:ln/>
        </p:spPr>
        <p:txBody>
          <a:bodyPr wrap="none" lIns="0" tIns="0" rIns="0" bIns="0" rtlCol="0" anchor="ctr">
            <a:normAutofit/>
          </a:bodyPr>
          <a:lstStyle/>
          <a:p>
            <a:pPr marL="0" indent="0" algn="ct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Live demo · 90 seconds · runs offline on this laptop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066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213D"/>
                </a:solidFill>
                <a:latin typeface="IBM Plex Sans" pitchFamily="34" charset="0"/>
                <a:ea typeface="IBM Plex Sans" pitchFamily="34" charset="-122"/>
                <a:cs typeface="IBM Plex Sans" pitchFamily="34" charset="-120"/>
              </a:rPr>
              <a:t>WHY WE WIN IN LUXEMBOURG</a:t>
            </a:r>
            <a:endParaRPr lang="en-US" sz="1200" dirty="0"/>
          </a:p>
        </p:txBody>
      </p:sp>
      <p:sp>
        <p:nvSpPr>
          <p:cNvPr id="3" name="Text 1"/>
          <p:cNvSpPr>
            <a:spLocks noGrp="1"/>
          </p:cNvSpPr>
          <p:nvPr>
            <p:ph type="title"/>
          </p:nvPr>
        </p:nvSpPr>
        <p:spPr>
          <a:xfrm>
            <a:off x="812800" y="2094178"/>
            <a:ext cx="9810750" cy="1342099"/>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14213D"/>
                </a:solidFill>
                <a:latin typeface="Source Serif 4" pitchFamily="18" charset="0"/>
                <a:ea typeface="Source Serif 4" pitchFamily="18" charset="-122"/>
                <a:cs typeface="Source Serif 4" pitchFamily="18" charset="-120"/>
              </a:rPr>
              <a:t>The DORA tool that doesn't create a new DORA problem.</a:t>
            </a:r>
            <a:endParaRPr lang="en-US" sz="4800" dirty="0"/>
          </a:p>
        </p:txBody>
      </p:sp>
      <p:sp>
        <p:nvSpPr>
          <p:cNvPr id="4" name="Shape 2"/>
          <p:cNvSpPr/>
          <p:nvPr/>
        </p:nvSpPr>
        <p:spPr>
          <a:xfrm>
            <a:off x="812800" y="4488458"/>
            <a:ext cx="3318933" cy="0"/>
          </a:xfrm>
          <a:prstGeom prst="line">
            <a:avLst/>
          </a:prstGeom>
          <a:noFill/>
          <a:ln w="19050">
            <a:solidFill>
              <a:srgbClr val="14213D"/>
            </a:solidFill>
            <a:prstDash val="solid"/>
          </a:ln>
        </p:spPr>
      </p:sp>
      <p:sp>
        <p:nvSpPr>
          <p:cNvPr id="5" name="Text 3"/>
          <p:cNvSpPr/>
          <p:nvPr/>
        </p:nvSpPr>
        <p:spPr>
          <a:xfrm>
            <a:off x="812800" y="4648267"/>
            <a:ext cx="3418501"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Runs in your perimeter</a:t>
            </a:r>
            <a:endParaRPr lang="en-US" sz="1800" dirty="0"/>
          </a:p>
        </p:txBody>
      </p:sp>
      <p:sp>
        <p:nvSpPr>
          <p:cNvPr id="6" name="Text 4"/>
          <p:cNvSpPr/>
          <p:nvPr/>
        </p:nvSpPr>
        <p:spPr>
          <a:xfrm>
            <a:off x="812800" y="5024174"/>
            <a:ext cx="3418501"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Self-hosted. Your register data stays in your own environment.</a:t>
            </a:r>
            <a:endParaRPr lang="en-US" sz="1400" dirty="0"/>
          </a:p>
        </p:txBody>
      </p:sp>
      <p:sp>
        <p:nvSpPr>
          <p:cNvPr id="7" name="Shape 5"/>
          <p:cNvSpPr/>
          <p:nvPr/>
        </p:nvSpPr>
        <p:spPr>
          <a:xfrm>
            <a:off x="4436533" y="4488458"/>
            <a:ext cx="3318933" cy="0"/>
          </a:xfrm>
          <a:prstGeom prst="line">
            <a:avLst/>
          </a:prstGeom>
          <a:noFill/>
          <a:ln w="19050">
            <a:solidFill>
              <a:srgbClr val="14213D"/>
            </a:solidFill>
            <a:prstDash val="solid"/>
          </a:ln>
        </p:spPr>
      </p:sp>
      <p:sp>
        <p:nvSpPr>
          <p:cNvPr id="8" name="Text 6"/>
          <p:cNvSpPr/>
          <p:nvPr/>
        </p:nvSpPr>
        <p:spPr>
          <a:xfrm>
            <a:off x="4436533" y="4648267"/>
            <a:ext cx="3418501"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Open source, no lock-in</a:t>
            </a:r>
            <a:endParaRPr lang="en-US" sz="1800" dirty="0"/>
          </a:p>
        </p:txBody>
      </p:sp>
      <p:sp>
        <p:nvSpPr>
          <p:cNvPr id="9" name="Text 7"/>
          <p:cNvSpPr/>
          <p:nvPr/>
        </p:nvSpPr>
        <p:spPr>
          <a:xfrm>
            <a:off x="4436533" y="5024174"/>
            <a:ext cx="3418501"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Apache-2.0 core and a documented exit plan. A lapsed licence never locks your data.</a:t>
            </a:r>
            <a:endParaRPr lang="en-US" sz="1400" dirty="0"/>
          </a:p>
        </p:txBody>
      </p:sp>
      <p:sp>
        <p:nvSpPr>
          <p:cNvPr id="10" name="Shape 8"/>
          <p:cNvSpPr/>
          <p:nvPr/>
        </p:nvSpPr>
        <p:spPr>
          <a:xfrm>
            <a:off x="8060267" y="4488458"/>
            <a:ext cx="3318933" cy="0"/>
          </a:xfrm>
          <a:prstGeom prst="line">
            <a:avLst/>
          </a:prstGeom>
          <a:noFill/>
          <a:ln w="19050">
            <a:solidFill>
              <a:srgbClr val="14213D"/>
            </a:solidFill>
            <a:prstDash val="solid"/>
          </a:ln>
        </p:spPr>
      </p:sp>
      <p:sp>
        <p:nvSpPr>
          <p:cNvPr id="11" name="Text 9"/>
          <p:cNvSpPr/>
          <p:nvPr/>
        </p:nvSpPr>
        <p:spPr>
          <a:xfrm>
            <a:off x="8060267" y="4648267"/>
            <a:ext cx="3418501" cy="574014"/>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Arrives with its own register entry</a:t>
            </a:r>
            <a:endParaRPr lang="en-US" sz="1800" dirty="0"/>
          </a:p>
        </p:txBody>
      </p:sp>
      <p:sp>
        <p:nvSpPr>
          <p:cNvPr id="12" name="Text 10"/>
          <p:cNvSpPr/>
          <p:nvPr/>
        </p:nvSpPr>
        <p:spPr>
          <a:xfrm>
            <a:off x="8060267" y="5298480"/>
            <a:ext cx="3418501"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A vendor due-diligence pack: register entry, security measures, subprocessors, exit plan.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81A"/>
                </a:solidFill>
                <a:latin typeface="IBM Plex Sans" pitchFamily="34" charset="0"/>
                <a:ea typeface="IBM Plex Sans" pitchFamily="34" charset="-122"/>
                <a:cs typeface="IBM Plex Sans" pitchFamily="34" charset="-120"/>
              </a:rPr>
              <a:t>BUSINESS MODEL</a:t>
            </a:r>
            <a:endParaRPr lang="en-US" sz="1200" dirty="0"/>
          </a:p>
        </p:txBody>
      </p:sp>
      <p:sp>
        <p:nvSpPr>
          <p:cNvPr id="3" name="Text 1"/>
          <p:cNvSpPr>
            <a:spLocks noGrp="1"/>
          </p:cNvSpPr>
          <p:nvPr>
            <p:ph type="title"/>
          </p:nvPr>
        </p:nvSpPr>
        <p:spPr>
          <a:xfrm>
            <a:off x="812800" y="1229320"/>
            <a:ext cx="10883392"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The rules tighten every year. So does the subscription.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79861"/>
          <a:ext cx="10553700" cy="2258748"/>
        </p:xfrm>
        <a:graphic>
          <a:graphicData uri="http://schemas.openxmlformats.org/drawingml/2006/table">
            <a:tbl>
              <a:tblPr/>
              <a:tblGrid>
                <a:gridCol w="2321814">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110740">
                  <a:extLst>
                    <a:ext uri="{9D8B030D-6E8A-4147-A177-3AD203B41FA5}">
                      <a16:colId xmlns:a16="http://schemas.microsoft.com/office/drawing/2014/main" val="20003"/>
                    </a:ext>
                  </a:extLst>
                </a:gridCol>
              </a:tblGrid>
              <a:tr h="359304">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Offer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What it includes</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For</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Price</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Open core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Engine, console, review workflow, PDF report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Any entity, to start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Free (Apache-2.0)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Filing Season 2027</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Licence, migration, validation, filing support</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Entities filing in March</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€7.5k–15k fixed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2"/>
                  </a:ext>
                </a:extLst>
              </a:tr>
              <a:tr h="590418">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Subscription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Annual rule updates, register export, SSO, workflow</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After the first filing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€8k–20k per entity per year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590418">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Channel licence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Many entities from one install</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ManCos, fund admins, consultancies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€1.5k–3k per entity per year</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Prices are hypotheses we are testing with the first customers.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81A"/>
                </a:solidFill>
                <a:latin typeface="IBM Plex Sans" pitchFamily="34" charset="0"/>
                <a:ea typeface="IBM Plex Sans" pitchFamily="34" charset="-122"/>
                <a:cs typeface="IBM Plex Sans" pitchFamily="34" charset="-120"/>
              </a:rPr>
              <a:t>TRACTION</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Built, and lined up for the 2027 filing</a:t>
            </a:r>
            <a:endParaRPr lang="en-US" sz="3200" dirty="0"/>
          </a:p>
        </p:txBody>
      </p:sp>
      <p:sp>
        <p:nvSpPr>
          <p:cNvPr id="4" name="Text 2"/>
          <p:cNvSpPr/>
          <p:nvPr/>
        </p:nvSpPr>
        <p:spPr>
          <a:xfrm>
            <a:off x="812800" y="1899841"/>
            <a:ext cx="597406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In the product today</a:t>
            </a:r>
            <a:endParaRPr lang="en-US" sz="1800" dirty="0"/>
          </a:p>
        </p:txBody>
      </p:sp>
      <p:sp>
        <p:nvSpPr>
          <p:cNvPr id="5" name="Text 3"/>
          <p:cNvSpPr/>
          <p:nvPr/>
        </p:nvSpPr>
        <p:spPr>
          <a:xfrm>
            <a:off x="891032" y="2301149"/>
            <a:ext cx="5888214" cy="1625600"/>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DORA, GDPR and EU AI Act control catalogs</a:t>
            </a:r>
            <a:endParaRPr lang="en-US" sz="1400" dirty="0"/>
          </a:p>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Evidence, review and approval workflow, audit log</a:t>
            </a:r>
            <a:endParaRPr lang="en-US" sz="1400" dirty="0"/>
          </a:p>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Encryption at rest, roles, retention</a:t>
            </a:r>
            <a:endParaRPr lang="en-US" sz="1400" dirty="0"/>
          </a:p>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PDF readiness report and register export (xBRL-CSV)</a:t>
            </a:r>
            <a:endParaRPr lang="en-US" sz="1400" dirty="0"/>
          </a:p>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Commercial edition: SSO, multi-entity, maintained rules</a:t>
            </a:r>
            <a:endParaRPr lang="en-US" sz="1400" dirty="0"/>
          </a:p>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Kubernetes Helm chart, Python SDK, vendor pack</a:t>
            </a:r>
            <a:endParaRPr lang="en-US" sz="1400" dirty="0"/>
          </a:p>
        </p:txBody>
      </p:sp>
      <p:sp>
        <p:nvSpPr>
          <p:cNvPr id="6" name="Shape 4"/>
          <p:cNvSpPr/>
          <p:nvPr/>
        </p:nvSpPr>
        <p:spPr>
          <a:xfrm>
            <a:off x="6920839" y="1903016"/>
            <a:ext cx="4455187" cy="1410494"/>
          </a:xfrm>
          <a:prstGeom prst="roundRect">
            <a:avLst>
              <a:gd name="adj" fmla="val 6978"/>
            </a:avLst>
          </a:prstGeom>
          <a:solidFill>
            <a:srgbClr val="FFFDF8"/>
          </a:solidFill>
          <a:ln w="6350">
            <a:solidFill>
              <a:srgbClr val="E2DED3"/>
            </a:solidFill>
            <a:prstDash val="solid"/>
          </a:ln>
        </p:spPr>
      </p:sp>
      <p:sp>
        <p:nvSpPr>
          <p:cNvPr id="7" name="Text 5"/>
          <p:cNvSpPr/>
          <p:nvPr/>
        </p:nvSpPr>
        <p:spPr>
          <a:xfrm>
            <a:off x="7175897" y="2158076"/>
            <a:ext cx="406342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5481A"/>
                </a:solidFill>
                <a:latin typeface="Source Serif 4" pitchFamily="18" charset="0"/>
                <a:ea typeface="Source Serif 4" pitchFamily="18" charset="-122"/>
                <a:cs typeface="Source Serif 4" pitchFamily="18" charset="-120"/>
              </a:rPr>
              <a:t>[n]</a:t>
            </a:r>
            <a:endParaRPr lang="en-US" sz="4800" dirty="0"/>
          </a:p>
        </p:txBody>
      </p:sp>
      <p:sp>
        <p:nvSpPr>
          <p:cNvPr id="8" name="Text 6"/>
          <p:cNvSpPr/>
          <p:nvPr/>
        </p:nvSpPr>
        <p:spPr>
          <a:xfrm>
            <a:off x="7175897" y="2818476"/>
            <a:ext cx="4063422"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letters of intent for the 2027 filing</a:t>
            </a:r>
            <a:endParaRPr lang="en-US" sz="1400" dirty="0"/>
          </a:p>
        </p:txBody>
      </p:sp>
      <p:sp>
        <p:nvSpPr>
          <p:cNvPr id="9" name="Shape 7"/>
          <p:cNvSpPr/>
          <p:nvPr/>
        </p:nvSpPr>
        <p:spPr>
          <a:xfrm>
            <a:off x="6920839" y="3472259"/>
            <a:ext cx="4455187" cy="1410494"/>
          </a:xfrm>
          <a:prstGeom prst="roundRect">
            <a:avLst>
              <a:gd name="adj" fmla="val 6978"/>
            </a:avLst>
          </a:prstGeom>
          <a:solidFill>
            <a:srgbClr val="FFFDF8"/>
          </a:solidFill>
          <a:ln w="6350">
            <a:solidFill>
              <a:srgbClr val="E2DED3"/>
            </a:solidFill>
            <a:prstDash val="solid"/>
          </a:ln>
        </p:spPr>
      </p:sp>
      <p:sp>
        <p:nvSpPr>
          <p:cNvPr id="10" name="Text 8"/>
          <p:cNvSpPr/>
          <p:nvPr/>
        </p:nvSpPr>
        <p:spPr>
          <a:xfrm>
            <a:off x="7175897" y="3727320"/>
            <a:ext cx="406342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5481A"/>
                </a:solidFill>
                <a:latin typeface="Source Serif 4" pitchFamily="18" charset="0"/>
                <a:ea typeface="Source Serif 4" pitchFamily="18" charset="-122"/>
                <a:cs typeface="Source Serif 4" pitchFamily="18" charset="-120"/>
              </a:rPr>
              <a:t>[n]</a:t>
            </a:r>
            <a:endParaRPr lang="en-US" sz="4800" dirty="0"/>
          </a:p>
        </p:txBody>
      </p:sp>
      <p:sp>
        <p:nvSpPr>
          <p:cNvPr id="11" name="Text 9"/>
          <p:cNvSpPr/>
          <p:nvPr/>
        </p:nvSpPr>
        <p:spPr>
          <a:xfrm>
            <a:off x="7175897" y="4387720"/>
            <a:ext cx="4063422" cy="265377"/>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Register Health Checks booked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81A"/>
                </a:solidFill>
                <a:latin typeface="IBM Plex Sans" pitchFamily="34" charset="0"/>
                <a:ea typeface="IBM Plex Sans" pitchFamily="34" charset="-122"/>
                <a:cs typeface="IBM Plex Sans" pitchFamily="34" charset="-120"/>
              </a:rPr>
              <a:t>ROADMAP</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Register first, then the cloud behind it</a:t>
            </a:r>
            <a:endParaRPr lang="en-US" sz="3200" dirty="0"/>
          </a:p>
        </p:txBody>
      </p:sp>
      <p:sp>
        <p:nvSpPr>
          <p:cNvPr id="4" name="Shape 2"/>
          <p:cNvSpPr/>
          <p:nvPr/>
        </p:nvSpPr>
        <p:spPr>
          <a:xfrm>
            <a:off x="815975" y="1903016"/>
            <a:ext cx="1984970" cy="1642798"/>
          </a:xfrm>
          <a:prstGeom prst="roundRect">
            <a:avLst>
              <a:gd name="adj" fmla="val 5991"/>
            </a:avLst>
          </a:prstGeom>
          <a:solidFill>
            <a:srgbClr val="FFFDF8"/>
          </a:solidFill>
          <a:ln w="6350">
            <a:solidFill>
              <a:srgbClr val="E2DED3"/>
            </a:solidFill>
            <a:prstDash val="solid"/>
          </a:ln>
        </p:spPr>
      </p:sp>
      <p:sp>
        <p:nvSpPr>
          <p:cNvPr id="5" name="Text 3"/>
          <p:cNvSpPr/>
          <p:nvPr/>
        </p:nvSpPr>
        <p:spPr>
          <a:xfrm>
            <a:off x="994833" y="2107276"/>
            <a:ext cx="16780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81A"/>
                </a:solidFill>
                <a:latin typeface="IBM Plex Sans" pitchFamily="34" charset="0"/>
                <a:ea typeface="IBM Plex Sans" pitchFamily="34" charset="-122"/>
                <a:cs typeface="IBM Plex Sans" pitchFamily="34" charset="-120"/>
              </a:rPr>
              <a:t>Oct 2026</a:t>
            </a:r>
            <a:endParaRPr lang="en-US" sz="1200" dirty="0"/>
          </a:p>
        </p:txBody>
      </p:sp>
      <p:sp>
        <p:nvSpPr>
          <p:cNvPr id="6" name="Text 4"/>
          <p:cNvSpPr/>
          <p:nvPr/>
        </p:nvSpPr>
        <p:spPr>
          <a:xfrm>
            <a:off x="994833" y="2396796"/>
            <a:ext cx="16780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Venture Days</a:t>
            </a:r>
            <a:endParaRPr lang="en-US" sz="1500" dirty="0"/>
          </a:p>
        </p:txBody>
      </p:sp>
      <p:sp>
        <p:nvSpPr>
          <p:cNvPr id="7" name="Text 5"/>
          <p:cNvSpPr/>
          <p:nvPr/>
        </p:nvSpPr>
        <p:spPr>
          <a:xfrm>
            <a:off x="994833" y="2701596"/>
            <a:ext cx="1678054"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Health Checks for Luxembourg fund managers</a:t>
            </a:r>
            <a:endParaRPr lang="en-US" sz="1200" dirty="0"/>
          </a:p>
        </p:txBody>
      </p:sp>
      <p:sp>
        <p:nvSpPr>
          <p:cNvPr id="8" name="Shape 6"/>
          <p:cNvSpPr/>
          <p:nvPr/>
        </p:nvSpPr>
        <p:spPr>
          <a:xfrm>
            <a:off x="2959695" y="1903016"/>
            <a:ext cx="1985037" cy="1642798"/>
          </a:xfrm>
          <a:prstGeom prst="roundRect">
            <a:avLst>
              <a:gd name="adj" fmla="val 5991"/>
            </a:avLst>
          </a:prstGeom>
          <a:solidFill>
            <a:srgbClr val="FFFDF8"/>
          </a:solidFill>
          <a:ln w="6350">
            <a:solidFill>
              <a:srgbClr val="E2DED3"/>
            </a:solidFill>
            <a:prstDash val="solid"/>
          </a:ln>
        </p:spPr>
      </p:sp>
      <p:sp>
        <p:nvSpPr>
          <p:cNvPr id="9" name="Text 7"/>
          <p:cNvSpPr/>
          <p:nvPr/>
        </p:nvSpPr>
        <p:spPr>
          <a:xfrm>
            <a:off x="3138554" y="2107276"/>
            <a:ext cx="16781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81A"/>
                </a:solidFill>
                <a:latin typeface="IBM Plex Sans" pitchFamily="34" charset="0"/>
                <a:ea typeface="IBM Plex Sans" pitchFamily="34" charset="-122"/>
                <a:cs typeface="IBM Plex Sans" pitchFamily="34" charset="-120"/>
              </a:rPr>
              <a:t>Nov 2026</a:t>
            </a:r>
            <a:endParaRPr lang="en-US" sz="1200" dirty="0"/>
          </a:p>
        </p:txBody>
      </p:sp>
      <p:sp>
        <p:nvSpPr>
          <p:cNvPr id="10" name="Text 8"/>
          <p:cNvSpPr/>
          <p:nvPr/>
        </p:nvSpPr>
        <p:spPr>
          <a:xfrm>
            <a:off x="3138554" y="2396796"/>
            <a:ext cx="16781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3 design partners</a:t>
            </a:r>
            <a:endParaRPr lang="en-US" sz="1500" dirty="0"/>
          </a:p>
        </p:txBody>
      </p:sp>
      <p:sp>
        <p:nvSpPr>
          <p:cNvPr id="11" name="Text 9"/>
          <p:cNvSpPr/>
          <p:nvPr/>
        </p:nvSpPr>
        <p:spPr>
          <a:xfrm>
            <a:off x="3138554" y="2701596"/>
            <a:ext cx="16781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Filing Season 2027 signed</a:t>
            </a:r>
            <a:endParaRPr lang="en-US" sz="1200" dirty="0"/>
          </a:p>
        </p:txBody>
      </p:sp>
      <p:sp>
        <p:nvSpPr>
          <p:cNvPr id="12" name="Shape 10"/>
          <p:cNvSpPr/>
          <p:nvPr/>
        </p:nvSpPr>
        <p:spPr>
          <a:xfrm>
            <a:off x="5103482" y="1903016"/>
            <a:ext cx="1984970" cy="1642798"/>
          </a:xfrm>
          <a:prstGeom prst="roundRect">
            <a:avLst>
              <a:gd name="adj" fmla="val 5991"/>
            </a:avLst>
          </a:prstGeom>
          <a:solidFill>
            <a:srgbClr val="FFFDF8"/>
          </a:solidFill>
          <a:ln w="6350">
            <a:solidFill>
              <a:srgbClr val="E2DED3"/>
            </a:solidFill>
            <a:prstDash val="solid"/>
          </a:ln>
        </p:spPr>
      </p:sp>
      <p:sp>
        <p:nvSpPr>
          <p:cNvPr id="13" name="Text 11"/>
          <p:cNvSpPr/>
          <p:nvPr/>
        </p:nvSpPr>
        <p:spPr>
          <a:xfrm>
            <a:off x="5282340" y="2107276"/>
            <a:ext cx="16780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81A"/>
                </a:solidFill>
                <a:latin typeface="IBM Plex Sans" pitchFamily="34" charset="0"/>
                <a:ea typeface="IBM Plex Sans" pitchFamily="34" charset="-122"/>
                <a:cs typeface="IBM Plex Sans" pitchFamily="34" charset="-120"/>
              </a:rPr>
              <a:t>Dec – Jan</a:t>
            </a:r>
            <a:endParaRPr lang="en-US" sz="1200" dirty="0"/>
          </a:p>
        </p:txBody>
      </p:sp>
      <p:sp>
        <p:nvSpPr>
          <p:cNvPr id="14" name="Text 12"/>
          <p:cNvSpPr/>
          <p:nvPr/>
        </p:nvSpPr>
        <p:spPr>
          <a:xfrm>
            <a:off x="5282340" y="2396796"/>
            <a:ext cx="16780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Official EBA rules</a:t>
            </a:r>
            <a:endParaRPr lang="en-US" sz="1500" dirty="0"/>
          </a:p>
        </p:txBody>
      </p:sp>
      <p:sp>
        <p:nvSpPr>
          <p:cNvPr id="15" name="Text 13"/>
          <p:cNvSpPr/>
          <p:nvPr/>
        </p:nvSpPr>
        <p:spPr>
          <a:xfrm>
            <a:off x="5282340" y="2701596"/>
            <a:ext cx="16780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Taxonomy and validation rules loaded</a:t>
            </a:r>
            <a:endParaRPr lang="en-US" sz="1200" dirty="0"/>
          </a:p>
        </p:txBody>
      </p:sp>
      <p:sp>
        <p:nvSpPr>
          <p:cNvPr id="16" name="Shape 14"/>
          <p:cNvSpPr/>
          <p:nvPr/>
        </p:nvSpPr>
        <p:spPr>
          <a:xfrm>
            <a:off x="7247203" y="1903016"/>
            <a:ext cx="1985037" cy="1642798"/>
          </a:xfrm>
          <a:prstGeom prst="roundRect">
            <a:avLst>
              <a:gd name="adj" fmla="val 5991"/>
            </a:avLst>
          </a:prstGeom>
          <a:solidFill>
            <a:srgbClr val="14213D"/>
          </a:solidFill>
          <a:ln w="6350">
            <a:solidFill>
              <a:srgbClr val="14213D"/>
            </a:solidFill>
            <a:prstDash val="solid"/>
          </a:ln>
        </p:spPr>
      </p:sp>
      <p:sp>
        <p:nvSpPr>
          <p:cNvPr id="17" name="Text 15"/>
          <p:cNvSpPr/>
          <p:nvPr/>
        </p:nvSpPr>
        <p:spPr>
          <a:xfrm>
            <a:off x="7426061" y="2107276"/>
            <a:ext cx="16781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Feb – Mar 2027</a:t>
            </a:r>
            <a:endParaRPr lang="en-US" sz="1200" dirty="0"/>
          </a:p>
        </p:txBody>
      </p:sp>
      <p:sp>
        <p:nvSpPr>
          <p:cNvPr id="18" name="Text 16"/>
          <p:cNvSpPr/>
          <p:nvPr/>
        </p:nvSpPr>
        <p:spPr>
          <a:xfrm>
            <a:off x="7426061" y="2396796"/>
            <a:ext cx="16781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4EE"/>
                </a:solidFill>
                <a:latin typeface="IBM Plex Sans" pitchFamily="34" charset="0"/>
                <a:ea typeface="IBM Plex Sans" pitchFamily="34" charset="-122"/>
                <a:cs typeface="IBM Plex Sans" pitchFamily="34" charset="-120"/>
              </a:rPr>
              <a:t>First filings</a:t>
            </a:r>
            <a:endParaRPr lang="en-US" sz="1500" dirty="0"/>
          </a:p>
        </p:txBody>
      </p:sp>
      <p:sp>
        <p:nvSpPr>
          <p:cNvPr id="19" name="Text 17"/>
          <p:cNvSpPr/>
          <p:nvPr/>
        </p:nvSpPr>
        <p:spPr>
          <a:xfrm>
            <a:off x="7426061" y="2701596"/>
            <a:ext cx="16781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FDB"/>
                </a:solidFill>
                <a:latin typeface="IBM Plex Sans" pitchFamily="34" charset="0"/>
                <a:ea typeface="IBM Plex Sans" pitchFamily="34" charset="-122"/>
                <a:cs typeface="IBM Plex Sans" pitchFamily="34" charset="-120"/>
              </a:rPr>
              <a:t>5–10 entities pass first time</a:t>
            </a:r>
            <a:endParaRPr lang="en-US" sz="1200" dirty="0"/>
          </a:p>
        </p:txBody>
      </p:sp>
      <p:sp>
        <p:nvSpPr>
          <p:cNvPr id="20" name="Shape 18"/>
          <p:cNvSpPr/>
          <p:nvPr/>
        </p:nvSpPr>
        <p:spPr>
          <a:xfrm>
            <a:off x="9390989" y="1903016"/>
            <a:ext cx="1984970" cy="1642798"/>
          </a:xfrm>
          <a:prstGeom prst="roundRect">
            <a:avLst>
              <a:gd name="adj" fmla="val 5991"/>
            </a:avLst>
          </a:prstGeom>
          <a:solidFill>
            <a:srgbClr val="FFFDF8"/>
          </a:solidFill>
          <a:ln w="6350">
            <a:solidFill>
              <a:srgbClr val="E2DED3"/>
            </a:solidFill>
            <a:prstDash val="solid"/>
          </a:ln>
        </p:spPr>
      </p:sp>
      <p:sp>
        <p:nvSpPr>
          <p:cNvPr id="21" name="Text 19"/>
          <p:cNvSpPr/>
          <p:nvPr/>
        </p:nvSpPr>
        <p:spPr>
          <a:xfrm>
            <a:off x="9569847" y="2107276"/>
            <a:ext cx="16780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81A"/>
                </a:solidFill>
                <a:latin typeface="IBM Plex Sans" pitchFamily="34" charset="0"/>
                <a:ea typeface="IBM Plex Sans" pitchFamily="34" charset="-122"/>
                <a:cs typeface="IBM Plex Sans" pitchFamily="34" charset="-120"/>
              </a:rPr>
              <a:t>H2 2027</a:t>
            </a:r>
            <a:endParaRPr lang="en-US" sz="1200" dirty="0"/>
          </a:p>
        </p:txBody>
      </p:sp>
      <p:sp>
        <p:nvSpPr>
          <p:cNvPr id="22" name="Text 20"/>
          <p:cNvSpPr/>
          <p:nvPr/>
        </p:nvSpPr>
        <p:spPr>
          <a:xfrm>
            <a:off x="9569847" y="2396796"/>
            <a:ext cx="16780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NEXOPS ONE</a:t>
            </a:r>
            <a:endParaRPr lang="en-US" sz="1500" dirty="0"/>
          </a:p>
        </p:txBody>
      </p:sp>
      <p:sp>
        <p:nvSpPr>
          <p:cNvPr id="23" name="Text 21"/>
          <p:cNvSpPr/>
          <p:nvPr/>
        </p:nvSpPr>
        <p:spPr>
          <a:xfrm>
            <a:off x="9569847" y="2701596"/>
            <a:ext cx="1678054"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Cloud cost, concentration and exit analysis</a:t>
            </a:r>
            <a:endParaRPr lang="en-US" sz="1200" dirty="0"/>
          </a:p>
        </p:txBody>
      </p:sp>
      <p:sp>
        <p:nvSpPr>
          <p:cNvPr id="24" name="Text 22"/>
          <p:cNvSpPr/>
          <p:nvPr/>
        </p:nvSpPr>
        <p:spPr>
          <a:xfrm>
            <a:off x="812800" y="3752190"/>
            <a:ext cx="981075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4213D"/>
                </a:solidFill>
                <a:latin typeface="IBM Plex Sans" pitchFamily="34" charset="0"/>
                <a:ea typeface="IBM Plex Sans" pitchFamily="34" charset="-122"/>
                <a:cs typeface="IBM Plex Sans" pitchFamily="34" charset="-120"/>
              </a:rPr>
              <a:t>The register shows what you depend on. NEXOPS ONE, already connected read-only to Azure and AWS, shows what it costs, how concentrated it is, and what leaving would take.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65A"/>
                </a:solidFill>
                <a:latin typeface="IBM Plex Sans" pitchFamily="34" charset="0"/>
                <a:ea typeface="IBM Plex Sans" pitchFamily="34" charset="-122"/>
                <a:cs typeface="IBM Plex Sans" pitchFamily="34" charset="-120"/>
              </a:rPr>
              <a:t>THE ASK</a:t>
            </a:r>
            <a:endParaRPr lang="en-US" sz="1200" dirty="0"/>
          </a:p>
        </p:txBody>
      </p:sp>
      <p:sp>
        <p:nvSpPr>
          <p:cNvPr id="3" name="Text 1"/>
          <p:cNvSpPr>
            <a:spLocks noGrp="1"/>
          </p:cNvSpPr>
          <p:nvPr>
            <p:ph type="title"/>
          </p:nvPr>
        </p:nvSpPr>
        <p:spPr>
          <a:xfrm>
            <a:off x="812800" y="1229320"/>
            <a:ext cx="5365595" cy="142736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6F4EE"/>
                </a:solidFill>
                <a:latin typeface="Source Serif 4" pitchFamily="18" charset="0"/>
                <a:ea typeface="Source Serif 4" pitchFamily="18" charset="-122"/>
                <a:cs typeface="Source Serif 4" pitchFamily="18" charset="-120"/>
              </a:rPr>
              <a:t>Three Luxembourg fund managers filing with us in March 2027</a:t>
            </a:r>
            <a:endParaRPr lang="en-US" sz="3200" dirty="0"/>
          </a:p>
        </p:txBody>
      </p:sp>
      <p:sp>
        <p:nvSpPr>
          <p:cNvPr id="4" name="Text 2"/>
          <p:cNvSpPr/>
          <p:nvPr/>
        </p:nvSpPr>
        <p:spPr>
          <a:xfrm>
            <a:off x="883920" y="2834481"/>
            <a:ext cx="5286855" cy="116840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C9CFDB"/>
                </a:solidFill>
                <a:latin typeface="IBM Plex Sans" pitchFamily="34" charset="0"/>
                <a:ea typeface="IBM Plex Sans" pitchFamily="34" charset="-122"/>
                <a:cs typeface="IBM Plex Sans" pitchFamily="34" charset="-120"/>
              </a:rPr>
              <a:t>Introductions to ALFI and LPEA compliance officers</a:t>
            </a:r>
            <a:endParaRPr lang="en-US" sz="1500" dirty="0"/>
          </a:p>
          <a:p>
            <a:pPr marL="182880" indent="-182880" algn="l">
              <a:lnSpc>
                <a:spcPts val="2250"/>
              </a:lnSpc>
              <a:buSzPct val="100000"/>
              <a:buChar char="•"/>
            </a:pPr>
            <a:r>
              <a:rPr lang="en-US" sz="1500" dirty="0">
                <a:solidFill>
                  <a:srgbClr val="C9CFDB"/>
                </a:solidFill>
                <a:latin typeface="IBM Plex Sans" pitchFamily="34" charset="0"/>
                <a:ea typeface="IBM Plex Sans" pitchFamily="34" charset="-122"/>
                <a:cs typeface="IBM Plex Sans" pitchFamily="34" charset="-120"/>
              </a:rPr>
              <a:t>A mentor with a network among smaller PSFs and ManCos</a:t>
            </a:r>
            <a:endParaRPr lang="en-US" sz="1500" dirty="0"/>
          </a:p>
          <a:p>
            <a:pPr marL="182880" indent="-182880" algn="l">
              <a:lnSpc>
                <a:spcPts val="2250"/>
              </a:lnSpc>
              <a:buSzPct val="100000"/>
              <a:buChar char="•"/>
            </a:pPr>
            <a:r>
              <a:rPr lang="en-US" sz="1500" dirty="0">
                <a:solidFill>
                  <a:srgbClr val="C9CFDB"/>
                </a:solidFill>
                <a:latin typeface="IBM Plex Sans" pitchFamily="34" charset="0"/>
                <a:ea typeface="IBM Plex Sans" pitchFamily="34" charset="-122"/>
                <a:cs typeface="IBM Plex Sans" pitchFamily="34" charset="-120"/>
              </a:rPr>
              <a:t>A compliance advisor to join the team</a:t>
            </a:r>
            <a:endParaRPr lang="en-US" sz="1500" dirty="0"/>
          </a:p>
        </p:txBody>
      </p:sp>
      <p:sp>
        <p:nvSpPr>
          <p:cNvPr id="5" name="Shape 3"/>
          <p:cNvSpPr/>
          <p:nvPr/>
        </p:nvSpPr>
        <p:spPr>
          <a:xfrm>
            <a:off x="6428515" y="1229320"/>
            <a:ext cx="4950685" cy="4612680"/>
          </a:xfrm>
          <a:prstGeom prst="roundRect">
            <a:avLst>
              <a:gd name="adj" fmla="val 2203"/>
            </a:avLst>
          </a:prstGeom>
          <a:solidFill>
            <a:srgbClr val="1E2E52"/>
          </a:solidFill>
          <a:ln/>
        </p:spPr>
      </p:sp>
      <p:sp>
        <p:nvSpPr>
          <p:cNvPr id="6" name="Text 4"/>
          <p:cNvSpPr/>
          <p:nvPr/>
        </p:nvSpPr>
        <p:spPr>
          <a:xfrm>
            <a:off x="6733315" y="1534120"/>
            <a:ext cx="447131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E"/>
                </a:solidFill>
                <a:latin typeface="IBM Plex Sans" pitchFamily="34" charset="0"/>
                <a:ea typeface="IBM Plex Sans" pitchFamily="34" charset="-122"/>
                <a:cs typeface="IBM Plex Sans" pitchFamily="34" charset="-120"/>
              </a:rPr>
              <a:t>Use of the €150k</a:t>
            </a:r>
            <a:endParaRPr lang="en-US" sz="1800" dirty="0"/>
          </a:p>
        </p:txBody>
      </p:sp>
      <p:sp>
        <p:nvSpPr>
          <p:cNvPr id="7" name="Text 5"/>
          <p:cNvSpPr/>
          <p:nvPr/>
        </p:nvSpPr>
        <p:spPr>
          <a:xfrm>
            <a:off x="6811547" y="1935429"/>
            <a:ext cx="4385466" cy="1358900"/>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C9CFDB"/>
                </a:solidFill>
                <a:latin typeface="IBM Plex Sans" pitchFamily="34" charset="0"/>
                <a:ea typeface="IBM Plex Sans" pitchFamily="34" charset="-122"/>
                <a:cs typeface="IBM Plex Sans" pitchFamily="34" charset="-120"/>
              </a:rPr>
              <a:t>Official EBA taxonomy and validation rules</a:t>
            </a:r>
            <a:endParaRPr lang="en-US" sz="1400" dirty="0"/>
          </a:p>
          <a:p>
            <a:pPr marL="175768" indent="-175768" algn="l">
              <a:lnSpc>
                <a:spcPts val="2100"/>
              </a:lnSpc>
              <a:buSzPct val="100000"/>
              <a:buChar char="•"/>
            </a:pPr>
            <a:r>
              <a:rPr lang="en-US" sz="1400" dirty="0">
                <a:solidFill>
                  <a:srgbClr val="C9CFDB"/>
                </a:solidFill>
                <a:latin typeface="IBM Plex Sans" pitchFamily="34" charset="0"/>
                <a:ea typeface="IBM Plex Sans" pitchFamily="34" charset="-122"/>
                <a:cs typeface="IBM Plex Sans" pitchFamily="34" charset="-120"/>
              </a:rPr>
              <a:t>Legal review of terms and vendor pack</a:t>
            </a:r>
            <a:endParaRPr lang="en-US" sz="1400" dirty="0"/>
          </a:p>
          <a:p>
            <a:pPr marL="175768" indent="-175768" algn="l">
              <a:lnSpc>
                <a:spcPts val="2100"/>
              </a:lnSpc>
              <a:buSzPct val="100000"/>
              <a:buChar char="•"/>
            </a:pPr>
            <a:r>
              <a:rPr lang="en-US" sz="1400" dirty="0">
                <a:solidFill>
                  <a:srgbClr val="C9CFDB"/>
                </a:solidFill>
                <a:latin typeface="IBM Plex Sans" pitchFamily="34" charset="0"/>
                <a:ea typeface="IBM Plex Sans" pitchFamily="34" charset="-122"/>
                <a:cs typeface="IBM Plex Sans" pitchFamily="34" charset="-120"/>
              </a:rPr>
              <a:t>Luxembourg-hosted managed option</a:t>
            </a:r>
            <a:endParaRPr lang="en-US" sz="1400" dirty="0"/>
          </a:p>
          <a:p>
            <a:pPr marL="175768" indent="-175768" algn="l">
              <a:lnSpc>
                <a:spcPts val="2100"/>
              </a:lnSpc>
              <a:buSzPct val="100000"/>
              <a:buChar char="•"/>
            </a:pPr>
            <a:r>
              <a:rPr lang="en-US" sz="1400" dirty="0">
                <a:solidFill>
                  <a:srgbClr val="C9CFDB"/>
                </a:solidFill>
                <a:latin typeface="IBM Plex Sans" pitchFamily="34" charset="0"/>
                <a:ea typeface="IBM Plex Sans" pitchFamily="34" charset="-122"/>
                <a:cs typeface="IBM Plex Sans" pitchFamily="34" charset="-120"/>
              </a:rPr>
              <a:t>Compliance co-founder or advisor</a:t>
            </a:r>
            <a:endParaRPr lang="en-US" sz="1400" dirty="0"/>
          </a:p>
          <a:p>
            <a:pPr marL="175768" indent="-175768" algn="l">
              <a:lnSpc>
                <a:spcPts val="2100"/>
              </a:lnSpc>
              <a:buSzPct val="100000"/>
              <a:buChar char="•"/>
            </a:pPr>
            <a:r>
              <a:rPr lang="en-US" sz="1400" dirty="0">
                <a:solidFill>
                  <a:srgbClr val="C9CFDB"/>
                </a:solidFill>
                <a:latin typeface="IBM Plex Sans" pitchFamily="34" charset="0"/>
                <a:ea typeface="IBM Plex Sans" pitchFamily="34" charset="-122"/>
                <a:cs typeface="IBM Plex Sans" pitchFamily="34" charset="-120"/>
              </a:rPr>
              <a:t>Three design partners to paying</a:t>
            </a:r>
            <a:endParaRPr lang="en-US" sz="14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FDB"/>
                </a:solidFill>
                <a:latin typeface="IBM Plex Sans" pitchFamily="34" charset="0"/>
                <a:ea typeface="IBM Plex Sans" pitchFamily="34" charset="-122"/>
                <a:cs typeface="IBM Plex Sans" pitchFamily="34" charset="-120"/>
              </a:rPr>
              <a:t>[Founder name] · finance-sector IT missions, multi-cloud and hybrid infrastructure · [email]</a:t>
            </a:r>
            <a:endParaRPr lang="en-US" sz="1200" dirty="0"/>
          </a:p>
        </p:txBody>
      </p:sp>
    </p:spTree>
  </p:cSld>
  <p:clrMapOvr>
    <a:masterClrMapping/>
  </p:clrMapOvr>
</p:sld>
</file>

<file path=ppt/theme/theme1.xml><?xml version="1.0" encoding="utf-8"?>
<a:theme xmlns:a="http://schemas.openxmlformats.org/drawingml/2006/main" name="NEXOPS ONE — Venture Days Pitch">
  <a:themeElements>
    <a:clrScheme name="NEXOPS ONE — Venture Days Pitch">
      <a:dk1>
        <a:srgbClr val="14213D"/>
      </a:dk1>
      <a:lt1>
        <a:srgbClr val="F6F4EE"/>
      </a:lt1>
      <a:dk2>
        <a:srgbClr val="4D5669"/>
      </a:dk2>
      <a:lt2>
        <a:srgbClr val="DFDFDC"/>
      </a:lt2>
      <a:accent1>
        <a:srgbClr val="B5481A"/>
      </a:accent1>
      <a:accent2>
        <a:srgbClr val="F2A65A"/>
      </a:accent2>
      <a:accent3>
        <a:srgbClr val="F2D9C4"/>
      </a:accent3>
      <a:accent4>
        <a:srgbClr val="E0662E"/>
      </a:accent4>
      <a:accent5>
        <a:srgbClr val="4A5568"/>
      </a:accent5>
      <a:accent6>
        <a:srgbClr val="C9CFDB"/>
      </a:accent6>
      <a:hlink>
        <a:srgbClr val="0563C1"/>
      </a:hlink>
      <a:folHlink>
        <a:srgbClr val="954F72"/>
      </a:folHlink>
    </a:clrScheme>
    <a:fontScheme name="NEXOPS ONE — Venture Days Pitch">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1334</Words>
  <Application>Microsoft Office PowerPoint</Application>
  <PresentationFormat>Widescreen</PresentationFormat>
  <Paragraphs>118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IBM Plex Sans</vt:lpstr>
      <vt:lpstr>Source Serif 4</vt:lpstr>
      <vt:lpstr>NEXOPS ONE — Venture Days Pitch</vt:lpstr>
      <vt:lpstr>The DORA register that passes. Every year.</vt:lpstr>
      <vt:lpstr>A register the CSSF accepted in 2025 can be rejected in 2026</vt:lpstr>
      <vt:lpstr>From last year's spreadsheet to a clean filing</vt:lpstr>
      <vt:lpstr>The DORA tool that doesn't create a new DORA problem.</vt:lpstr>
      <vt:lpstr>The rules tighten every year. So does the subscription.</vt:lpstr>
      <vt:lpstr>Built, and lined up for the 2027 filing</vt:lpstr>
      <vt:lpstr>Register first, then the cloud behind it</vt:lpstr>
      <vt:lpstr>Three Luxembourg fund managers filing with us in March 2027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NEXOPS ONE — Venture Days Pitch</dc:title>
  <dc:subject/>
  <dc:creator/>
  <cp:lastModifiedBy>nephthali djabon</cp:lastModifiedBy>
  <cp:revision>4</cp:revision>
  <dcterms:created xsi:type="dcterms:W3CDTF">2026-10-02T19:26:32Z</dcterms:created>
  <dcterms:modified xsi:type="dcterms:W3CDTF">2026-10-04T11:34:33Z</dcterms:modified>
</cp:coreProperties>
</file>